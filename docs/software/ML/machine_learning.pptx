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PT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31ADE6E-1AF2-4E68-A2D1-499CD85A6EA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93CD15-57D1-4A30-93A7-96D0308105F8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E1E704-BB94-4BB4-BAAE-BCE8CAE54F6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C8CCBFE-A040-4A8F-9A4F-BF82F7CFDAB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95FED1-CA0C-481D-A891-B5A71FD67A1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CB738D-CA05-4CB0-A5CF-AD18FDFD9D2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B6F0C64-E660-4E53-BA23-4A7F99363D5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CC26F8-6404-4481-B781-F199D2CA682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2BD7C26-BAD9-4A4D-88A6-BDB59F2E49A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AC7D306-DD1F-4BB7-A044-B330986C72D9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32D719F-31A6-4F58-A342-98C90981D5FD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FAB379A-F94D-4EFA-9820-12CC5ADF22AB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904280" y="1567440"/>
            <a:ext cx="343476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A1CBB5A-3F3C-4641-A337-39CDF2984EC2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79B2629-0519-4813-9BEA-2401693F694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7625D38-5649-4D17-BF64-5B45037D44CB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EC1BD04A-6C37-41CB-B31A-2475EF67C70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7CE40D3-C9AE-4EE6-82EB-03DBEF9F1FA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5157720" cy="5143320"/>
          </a:xfrm>
          <a:prstGeom prst="rtTriangle">
            <a:avLst/>
          </a:prstGeom>
          <a:blipFill rotWithShape="0">
            <a:blip r:embed="rId2">
              <a:alphaModFix amt="66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11;p2"/>
          <p:cNvSpPr/>
          <p:nvPr/>
        </p:nvSpPr>
        <p:spPr>
          <a:xfrm rot="10800000">
            <a:off x="6977160" y="360"/>
            <a:ext cx="2166840" cy="2012400"/>
          </a:xfrm>
          <a:prstGeom prst="rtTriangle">
            <a:avLst/>
          </a:prstGeom>
          <a:blipFill rotWithShape="0">
            <a:blip r:embed="rId3">
              <a:alphaModFix amt="31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4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pt-PT" sz="4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pt-PT" sz="40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pt-PT" sz="4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pt-PT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7C7685-5180-41F1-B059-84C8B9C1C35F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Google Shape;15;p2"/>
          <p:cNvSpPr/>
          <p:nvPr/>
        </p:nvSpPr>
        <p:spPr>
          <a:xfrm rot="16200000">
            <a:off x="5760" y="-4320"/>
            <a:ext cx="2291040" cy="229968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Google Shape;16;p2"/>
          <p:cNvSpPr/>
          <p:nvPr/>
        </p:nvSpPr>
        <p:spPr>
          <a:xfrm flipH="1">
            <a:off x="652680" y="576720"/>
            <a:ext cx="2299680" cy="229104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6;p11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Google Shape;137;p11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Google Shape;138;p11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Google Shape;139;p11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3" name="Google Shape;140;p11"/>
          <p:cNvGrpSpPr/>
          <p:nvPr/>
        </p:nvGrpSpPr>
        <p:grpSpPr>
          <a:xfrm>
            <a:off x="4406760" y="0"/>
            <a:ext cx="4737240" cy="5143680"/>
            <a:chOff x="4406760" y="0"/>
            <a:chExt cx="4737240" cy="5143680"/>
          </a:xfrm>
        </p:grpSpPr>
        <p:sp>
          <p:nvSpPr>
            <p:cNvPr id="14" name="Google Shape;141;p11"/>
            <p:cNvSpPr/>
            <p:nvPr/>
          </p:nvSpPr>
          <p:spPr>
            <a:xfrm rot="5400000">
              <a:off x="4407840" y="-1440"/>
              <a:ext cx="473436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Google Shape;142;p11"/>
            <p:cNvSpPr/>
            <p:nvPr/>
          </p:nvSpPr>
          <p:spPr>
            <a:xfrm rot="5400000">
              <a:off x="4840920" y="5760"/>
              <a:ext cx="429840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143;p11"/>
            <p:cNvSpPr/>
            <p:nvPr/>
          </p:nvSpPr>
          <p:spPr>
            <a:xfrm rot="16200000">
              <a:off x="5618520" y="123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Google Shape;144;p11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Google Shape;145;p11"/>
            <p:cNvSpPr/>
            <p:nvPr/>
          </p:nvSpPr>
          <p:spPr>
            <a:xfrm rot="16200000">
              <a:off x="5987160" y="2469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Google Shape;146;p11"/>
            <p:cNvSpPr/>
            <p:nvPr/>
          </p:nvSpPr>
          <p:spPr>
            <a:xfrm flipH="1">
              <a:off x="6222240" y="26773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Google Shape;147;p11"/>
            <p:cNvSpPr/>
            <p:nvPr/>
          </p:nvSpPr>
          <p:spPr>
            <a:xfrm rot="16200000">
              <a:off x="6675480" y="186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Google Shape;148;p11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Google Shape;149;p11"/>
            <p:cNvSpPr/>
            <p:nvPr/>
          </p:nvSpPr>
          <p:spPr>
            <a:xfrm rot="16200000">
              <a:off x="6861240" y="247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150;p11"/>
            <p:cNvSpPr/>
            <p:nvPr/>
          </p:nvSpPr>
          <p:spPr>
            <a:xfrm flipH="1">
              <a:off x="7965360" y="2693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Google Shape;151;p11"/>
            <p:cNvSpPr/>
            <p:nvPr/>
          </p:nvSpPr>
          <p:spPr>
            <a:xfrm flipH="1">
              <a:off x="8145000" y="3309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" name="Google Shape;152;p11"/>
            <p:cNvSpPr/>
            <p:nvPr/>
          </p:nvSpPr>
          <p:spPr>
            <a:xfrm rot="16200000">
              <a:off x="7047720" y="3095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" name="Google Shape;153;p11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154;p11"/>
            <p:cNvSpPr/>
            <p:nvPr/>
          </p:nvSpPr>
          <p:spPr>
            <a:xfrm rot="16200000">
              <a:off x="7227360" y="3711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" name="Google Shape;155;p11"/>
            <p:cNvSpPr/>
            <p:nvPr/>
          </p:nvSpPr>
          <p:spPr>
            <a:xfrm flipH="1">
              <a:off x="7462440" y="391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Google Shape;156;p11"/>
            <p:cNvSpPr/>
            <p:nvPr/>
          </p:nvSpPr>
          <p:spPr>
            <a:xfrm rot="16200000">
              <a:off x="8102520" y="3719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" name="Google Shape;157;p11"/>
            <p:cNvSpPr/>
            <p:nvPr/>
          </p:nvSpPr>
          <p:spPr>
            <a:xfrm flipH="1">
              <a:off x="8334360" y="3926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" name="Google Shape;158;p11"/>
            <p:cNvSpPr/>
            <p:nvPr/>
          </p:nvSpPr>
          <p:spPr>
            <a:xfrm rot="16200000">
              <a:off x="8288280" y="4335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760" cy="35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PT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0C3426-9E0F-456E-9941-720CD1782E2F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162;p12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Google Shape;163;p12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Google Shape;164;p12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165;p12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8" name="Google Shape;166;p12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39" name="Google Shape;167;p12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Google Shape;168;p12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88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6320" cy="23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B4ECF0-5C52-4152-96FA-5F030E49DEFE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174;p13"/>
          <p:cNvGrpSpPr/>
          <p:nvPr/>
        </p:nvGrpSpPr>
        <p:grpSpPr>
          <a:xfrm>
            <a:off x="0" y="4129200"/>
            <a:ext cx="698400" cy="683640"/>
            <a:chOff x="0" y="4129200"/>
            <a:chExt cx="698400" cy="683640"/>
          </a:xfrm>
        </p:grpSpPr>
        <p:sp>
          <p:nvSpPr>
            <p:cNvPr id="45" name="Google Shape;175;p13"/>
            <p:cNvSpPr/>
            <p:nvPr/>
          </p:nvSpPr>
          <p:spPr>
            <a:xfrm rot="16200000">
              <a:off x="0" y="412920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176;p13"/>
            <p:cNvSpPr/>
            <p:nvPr/>
          </p:nvSpPr>
          <p:spPr>
            <a:xfrm flipH="1">
              <a:off x="154080" y="426852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76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B17D89-B500-4ED5-97E0-B22B12261518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9" name="Google Shape;179;p13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Google Shape;180;p13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Google Shape;181;p13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Google Shape;182;p13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184;p14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55" name="Google Shape;185;p14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Google Shape;186;p14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" name="Google Shape;187;p14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Google Shape;188;p14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" name="Google Shape;189;p14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" name="Google Shape;190;p14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" name="Google Shape;191;p14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" name="Google Shape;192;p14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Google Shape;193;p14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" name="Google Shape;194;p14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" name="Google Shape;195;p14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" name="Google Shape;196;p14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" name="Google Shape;197;p14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Google Shape;198;p14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Google Shape;199;p14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Google Shape;200;p14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Google Shape;201;p14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Google Shape;202;p14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23680" y="1284840"/>
            <a:ext cx="477576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pt-PT" sz="8000" spc="-1" strike="noStrike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b="0" lang="pt-PT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760" cy="121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176B1D-E448-4A8B-A8F4-AF8A98FAEA1A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Google Shape;206;p14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207;p14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Google Shape;208;p14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209;p14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2B2BEF-0840-4E91-A1F1-D8D6C295740E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213;p16"/>
          <p:cNvSpPr/>
          <p:nvPr/>
        </p:nvSpPr>
        <p:spPr>
          <a:xfrm rot="16200000">
            <a:off x="113400" y="-105120"/>
            <a:ext cx="5141880" cy="5364000"/>
          </a:xfrm>
          <a:prstGeom prst="diagStripe">
            <a:avLst>
              <a:gd name="adj" fmla="val 50343"/>
            </a:avLst>
          </a:prstGeom>
          <a:blipFill rotWithShape="0">
            <a:blip r:embed="rId2">
              <a:alphaModFix amt="8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017960" y="1567440"/>
            <a:ext cx="4318200" cy="176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4441C8-E3A5-486E-B113-9DFF4BAA7C34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Google Shape;217;p16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218;p16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219;p16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220;p16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9" name="Google Shape;221;p16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90" name="Google Shape;222;p16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" name="Google Shape;223;p16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18;p3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93" name="Google Shape;19;p3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20;p3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Google Shape;21;p3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22;p3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23;p3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24;p3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Google Shape;25;p3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Google Shape;26;p3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27;p3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28;p3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Google Shape;29;p3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Google Shape;30;p3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Google Shape;31;p3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Google Shape;32;p3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7" name="Google Shape;33;p3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Google Shape;34;p3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Google Shape;35;p3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36;p3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760" cy="11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pt-PT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9DDB6E-F17B-4882-B12E-680AC991C66F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Google Shape;39;p3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40;p3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Google Shape;41;p3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42;p3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44;p4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118" name="Google Shape;45;p4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Google Shape;46;p4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Google Shape;47;p4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Google Shape;48;p4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2" name="Google Shape;49;p4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3" name="Google Shape;50;p4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Google Shape;51;p4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Google Shape;52;p4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Google Shape;53;p4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7" name="Google Shape;54;p4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8" name="Google Shape;55;p4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9" name="Google Shape;56;p4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0" name="Google Shape;57;p4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1" name="Google Shape;58;p4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2" name="Google Shape;59;p4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Google Shape;60;p4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Google Shape;61;p4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Google Shape;62;p4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6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21587C-E74C-482F-88C6-FDC1A85544D0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66;p5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67;p5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68;p5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69;p5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43" name="Google Shape;70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44" name="Google Shape;71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5" name="Google Shape;72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1C06C6-6D1D-49F6-9573-ADC66AE0589D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61080" y="1924920"/>
            <a:ext cx="2304720" cy="17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8;p6"/>
          <p:cNvSpPr/>
          <p:nvPr/>
        </p:nvSpPr>
        <p:spPr>
          <a:xfrm>
            <a:off x="4564080" y="0"/>
            <a:ext cx="4579560" cy="5143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451200" y="1924920"/>
            <a:ext cx="2304720" cy="17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80;p6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Google Shape;81;p6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82;p6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83;p6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58" name="Google Shape;84;p6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59" name="Google Shape;85;p6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0" name="Google Shape;86;p6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1" name="PlaceHolder 3"/>
          <p:cNvSpPr>
            <a:spLocks noGrp="1"/>
          </p:cNvSpPr>
          <p:nvPr>
            <p:ph type="title"/>
          </p:nvPr>
        </p:nvSpPr>
        <p:spPr>
          <a:xfrm>
            <a:off x="1297440" y="459360"/>
            <a:ext cx="3005280" cy="51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1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F21139-6620-4505-BEA8-4A4CA1A66740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02720" y="1708560"/>
            <a:ext cx="3332880" cy="147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91;p7"/>
          <p:cNvSpPr/>
          <p:nvPr/>
        </p:nvSpPr>
        <p:spPr>
          <a:xfrm>
            <a:off x="0" y="3486600"/>
            <a:ext cx="9143640" cy="1656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92;p7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Google Shape;93;p7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94;p7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Google Shape;95;p7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9" name="Google Shape;96;p7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70" name="Google Shape;97;p7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1" name="Google Shape;98;p7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2" name="PlaceHolder 2"/>
          <p:cNvSpPr>
            <a:spLocks noGrp="1"/>
          </p:cNvSpPr>
          <p:nvPr>
            <p:ph type="title"/>
          </p:nvPr>
        </p:nvSpPr>
        <p:spPr>
          <a:xfrm>
            <a:off x="1297440" y="459360"/>
            <a:ext cx="3005280" cy="51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1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86440C-90B6-448C-AD99-D0311B7CF4E1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702720" y="3625200"/>
            <a:ext cx="3332880" cy="76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1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03;p8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104;p8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105;p8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Google Shape;106;p8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79" name="Google Shape;107;p8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80" name="Google Shape;108;p8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Google Shape;109;p8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5552E7-A251-4E76-BF69-96CD6BC03F8A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15;p9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Google Shape;116;p9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117;p9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Google Shape;118;p9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93" name="Google Shape;119;p9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94" name="Google Shape;120;p9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5" name="Google Shape;121;p9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AE7CF5-D392-4CBC-805F-8C92B05774A8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25;p10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Google Shape;126;p10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Google Shape;127;p10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Google Shape;128;p10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3" name="Google Shape;129;p10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204" name="Google Shape;130;p10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5" name="Google Shape;131;p10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72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720" cy="241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96D692-BC8C-4A21-AE9F-DC3DEC08E961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66;p5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Google Shape;67;p5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Google Shape;68;p5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Google Shape;69;p5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13" name="Google Shape;70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214" name="Google Shape;71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5" name="Google Shape;72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C97AEB-F60D-427A-ABF1-DEFB2D455F97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66;p5"/>
          <p:cNvSpPr/>
          <p:nvPr/>
        </p:nvSpPr>
        <p:spPr>
          <a:xfrm>
            <a:off x="0" y="0"/>
            <a:ext cx="632520" cy="588240"/>
          </a:xfrm>
          <a:prstGeom prst="rect">
            <a:avLst/>
          </a:prstGeom>
          <a:solidFill>
            <a:srgbClr val="1b21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Google Shape;67;p5"/>
          <p:cNvSpPr/>
          <p:nvPr/>
        </p:nvSpPr>
        <p:spPr>
          <a:xfrm>
            <a:off x="212040" y="22176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Google Shape;68;p5"/>
          <p:cNvSpPr/>
          <p:nvPr/>
        </p:nvSpPr>
        <p:spPr>
          <a:xfrm>
            <a:off x="212040" y="28440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Google Shape;69;p5"/>
          <p:cNvSpPr/>
          <p:nvPr/>
        </p:nvSpPr>
        <p:spPr>
          <a:xfrm>
            <a:off x="212040" y="346680"/>
            <a:ext cx="219240" cy="18720"/>
          </a:xfrm>
          <a:prstGeom prst="rect">
            <a:avLst/>
          </a:prstGeom>
          <a:solidFill>
            <a:srgbClr val="55688b">
              <a:alpha val="3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25" name="Google Shape;70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226" name="Google Shape;71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pt-PT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Google Shape;72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pt-PT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pt-PT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PT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16B961-F41A-49EB-8BDF-1DFFFC9E64A9}" type="slidenum">
              <a:rPr b="0" lang="en-GB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pt-PT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3537000" y="209016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600" spc="-1" strike="noStrike">
                <a:solidFill>
                  <a:schemeClr val="lt1"/>
                </a:solidFill>
                <a:latin typeface="Montserrat"/>
                <a:ea typeface="Montserrat"/>
              </a:rPr>
              <a:t>Learning Methods</a:t>
            </a:r>
            <a:br>
              <a:rPr sz="3200"/>
            </a:br>
            <a:r>
              <a:rPr b="1" lang="en-GB" sz="3200" spc="-1" strike="noStrike">
                <a:solidFill>
                  <a:schemeClr val="lt1"/>
                </a:solidFill>
                <a:latin typeface="Montserrat"/>
                <a:ea typeface="Montserrat"/>
              </a:rPr>
              <a:t>Autonomous Driving</a:t>
            </a:r>
            <a:endParaRPr b="0" lang="pt-PT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Google Shape;230;p17" descr=""/>
          <p:cNvPicPr/>
          <p:nvPr/>
        </p:nvPicPr>
        <p:blipFill>
          <a:blip r:embed="rId1"/>
          <a:stretch/>
        </p:blipFill>
        <p:spPr>
          <a:xfrm>
            <a:off x="5934600" y="3668760"/>
            <a:ext cx="2619720" cy="94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81840" y="808920"/>
            <a:ext cx="7038720" cy="48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Overview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58800" y="1351440"/>
            <a:ext cx="4776120" cy="20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216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1400" spc="-1" strike="noStrike">
                <a:solidFill>
                  <a:srgbClr val="cacaca"/>
                </a:solidFill>
                <a:latin typeface="Montserrat"/>
                <a:ea typeface="Montserrat"/>
              </a:rPr>
              <a:t>Imitation Learning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rgbClr val="cacaca"/>
                </a:solidFill>
                <a:latin typeface="Montserrat"/>
                <a:ea typeface="Montserrat"/>
              </a:rPr>
              <a:t>Learn from human errors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1400" spc="-1" strike="noStrike">
                <a:solidFill>
                  <a:srgbClr val="cacaca"/>
                </a:solidFill>
                <a:latin typeface="Montserrat"/>
                <a:ea typeface="Montserrat"/>
              </a:rPr>
              <a:t>Reiforcement Learning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rgbClr val="cacaca"/>
                </a:solidFill>
                <a:latin typeface="Montserrat"/>
                <a:ea typeface="Montserrat"/>
              </a:rPr>
              <a:t>Learn from trial and error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1400" spc="-1" strike="noStrike">
                <a:solidFill>
                  <a:srgbClr val="cacaca"/>
                </a:solidFill>
                <a:latin typeface="Montserrat"/>
                <a:ea typeface="Montserrat"/>
              </a:rPr>
              <a:t>Dataset Aggregation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1400" spc="-1" strike="noStrike">
                <a:solidFill>
                  <a:srgbClr val="cacaca"/>
                </a:solidFill>
                <a:latin typeface="Montserrat"/>
                <a:ea typeface="Montserrat"/>
              </a:rPr>
              <a:t>Iterative data collection</a:t>
            </a: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>
              <a:lnSpc>
                <a:spcPct val="130000"/>
              </a:lnSpc>
              <a:buClr>
                <a:srgbClr val="ffffff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7" name="Google Shape;237;p18" descr=""/>
          <p:cNvPicPr/>
          <p:nvPr/>
        </p:nvPicPr>
        <p:blipFill>
          <a:blip r:embed="rId1"/>
          <a:stretch/>
        </p:blipFill>
        <p:spPr>
          <a:xfrm>
            <a:off x="8063640" y="109800"/>
            <a:ext cx="987840" cy="35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1052640" y="51912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300" spc="-1" strike="noStrike">
                <a:solidFill>
                  <a:schemeClr val="lt1"/>
                </a:solidFill>
                <a:latin typeface="Roboto"/>
                <a:ea typeface="Roboto"/>
              </a:rPr>
              <a:t>Imitation Learning</a:t>
            </a:r>
            <a:br>
              <a:rPr sz="2300"/>
            </a:br>
            <a:r>
              <a:rPr b="0" i="1" lang="en-US" sz="1300" spc="-1" strike="noStrike">
                <a:solidFill>
                  <a:schemeClr val="lt1"/>
                </a:solidFill>
                <a:latin typeface="Calibri"/>
                <a:ea typeface="Calibri"/>
              </a:rPr>
              <a:t>Supervised learning from human demonstrations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Google Shape;272;p22" descr=""/>
          <p:cNvPicPr/>
          <p:nvPr/>
        </p:nvPicPr>
        <p:blipFill>
          <a:blip r:embed="rId1"/>
          <a:stretch/>
        </p:blipFill>
        <p:spPr>
          <a:xfrm>
            <a:off x="8063640" y="109800"/>
            <a:ext cx="987840" cy="356760"/>
          </a:xfrm>
          <a:prstGeom prst="rect">
            <a:avLst/>
          </a:prstGeom>
          <a:ln w="0">
            <a:noFill/>
          </a:ln>
        </p:spPr>
      </p:pic>
      <p:sp>
        <p:nvSpPr>
          <p:cNvPr id="240" name="Google Shape;273;p22"/>
          <p:cNvSpPr/>
          <p:nvPr/>
        </p:nvSpPr>
        <p:spPr>
          <a:xfrm>
            <a:off x="304920" y="304920"/>
            <a:ext cx="299952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41" name=""/>
          <p:cNvGraphicFramePr/>
          <p:nvPr/>
        </p:nvGraphicFramePr>
        <p:xfrm>
          <a:off x="1116360" y="1342440"/>
          <a:ext cx="3344040" cy="2981160"/>
        </p:xfrm>
        <a:graphic>
          <a:graphicData uri="http://schemas.openxmlformats.org/drawingml/2006/table">
            <a:tbl>
              <a:tblPr/>
              <a:tblGrid>
                <a:gridCol w="33444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✓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Advantages</a:t>
                      </a:r>
                      <a:endParaRPr b="0" lang="pt-PT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 reward function required — learns directly from labeled data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Fast and intuitive — leverages existing human driving datasets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Produces natural, human-like driving behavior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Works end-to-end: raw sensor input → actions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Easy to scale with more human driving data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2" name=""/>
          <p:cNvGraphicFramePr/>
          <p:nvPr/>
        </p:nvGraphicFramePr>
        <p:xfrm>
          <a:off x="5197680" y="1330920"/>
          <a:ext cx="3344040" cy="3159720"/>
        </p:xfrm>
        <a:graphic>
          <a:graphicData uri="http://schemas.openxmlformats.org/drawingml/2006/table">
            <a:tbl>
              <a:tblPr/>
              <a:tblGrid>
                <a:gridCol w="33444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✗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Disadvantages</a:t>
                      </a:r>
                      <a:endParaRPr b="0" lang="pt-PT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10d0c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Distribution shift — errors compound when the agent diverges from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training states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Performance limited by demonstration quality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Struggles with rare edge cases underrepresented in data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Cannot surpass human-level performance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lnSpc>
                          <a:spcPct val="100000"/>
                        </a:lnSpc>
                        <a:spcAft>
                          <a:spcPts val="601"/>
                        </a:spcAft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Requires large amounts of labeled demonstration data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052640" y="51912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Calibri"/>
              </a:rPr>
              <a:t>Reinforce</a:t>
            </a: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Calibri"/>
              </a:rPr>
              <a:t>ment </a:t>
            </a: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Calibri"/>
              </a:rPr>
              <a:t>Learning</a:t>
            </a:r>
            <a:br>
              <a:rPr sz="2400"/>
            </a:br>
            <a:r>
              <a:rPr b="0" i="1" lang="en-US" sz="1300" spc="-1" strike="noStrike">
                <a:solidFill>
                  <a:schemeClr val="lt1"/>
                </a:solidFill>
                <a:latin typeface="Calibri"/>
                <a:ea typeface="Calibri"/>
              </a:rPr>
              <a:t>Agent learns via reward </a:t>
            </a:r>
            <a:r>
              <a:rPr b="0" i="1" lang="en-US" sz="1300" spc="-1" strike="noStrike">
                <a:solidFill>
                  <a:schemeClr val="lt1"/>
                </a:solidFill>
                <a:latin typeface="Calibri"/>
                <a:ea typeface="Calibri"/>
              </a:rPr>
              <a:t>signals through trial </a:t>
            </a:r>
            <a:r>
              <a:rPr b="0" i="1" lang="en-US" sz="1300" spc="-1" strike="noStrike">
                <a:solidFill>
                  <a:schemeClr val="lt1"/>
                </a:solidFill>
                <a:latin typeface="Calibri"/>
                <a:ea typeface="Calibri"/>
              </a:rPr>
              <a:t>and error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Google Shape;272;p 2" descr=""/>
          <p:cNvPicPr/>
          <p:nvPr/>
        </p:nvPicPr>
        <p:blipFill>
          <a:blip r:embed="rId1"/>
          <a:stretch/>
        </p:blipFill>
        <p:spPr>
          <a:xfrm>
            <a:off x="8063640" y="109800"/>
            <a:ext cx="987840" cy="356760"/>
          </a:xfrm>
          <a:prstGeom prst="rect">
            <a:avLst/>
          </a:prstGeom>
          <a:ln w="0">
            <a:noFill/>
          </a:ln>
        </p:spPr>
      </p:pic>
      <p:sp>
        <p:nvSpPr>
          <p:cNvPr id="245" name="Google Shape;273;p 2"/>
          <p:cNvSpPr/>
          <p:nvPr/>
        </p:nvSpPr>
        <p:spPr>
          <a:xfrm>
            <a:off x="304920" y="304920"/>
            <a:ext cx="299952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46" name=""/>
          <p:cNvGraphicFramePr/>
          <p:nvPr/>
        </p:nvGraphicFramePr>
        <p:xfrm>
          <a:off x="1116360" y="1342440"/>
          <a:ext cx="3344040" cy="2981160"/>
        </p:xfrm>
        <a:graphic>
          <a:graphicData uri="http://schemas.openxmlformats.org/drawingml/2006/table">
            <a:tbl>
              <a:tblPr/>
              <a:tblGrid>
                <a:gridCol w="33444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✓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Advantages</a:t>
                      </a:r>
                      <a:endParaRPr b="0" lang="pt-PT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Can surpass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human-level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performance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given enough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training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Learns optimal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strategies, not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just imitation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Naturally handles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sequential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decision-making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Can discover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novel and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creative driving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strategies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Works in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simulated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environments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without human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supervision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7" name=""/>
          <p:cNvGraphicFramePr/>
          <p:nvPr/>
        </p:nvGraphicFramePr>
        <p:xfrm>
          <a:off x="5197680" y="1330920"/>
          <a:ext cx="3344040" cy="3159720"/>
        </p:xfrm>
        <a:graphic>
          <a:graphicData uri="http://schemas.openxmlformats.org/drawingml/2006/table">
            <a:tbl>
              <a:tblPr/>
              <a:tblGrid>
                <a:gridCol w="33444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✗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Disadvantages</a:t>
                      </a:r>
                      <a:endParaRPr b="0" lang="pt-PT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10d0c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Requires careful,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complex reward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function design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Sample inefficient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— needs millions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of interactions to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converge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Sim-to-real gap: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policies trained in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simulation may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fail in reality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Safety concerns: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exploration leads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to dangerous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behaviors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Difficult to train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for rare but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critical scenarios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052640" y="51912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/>
                </a:solidFill>
                <a:latin typeface="Calibri"/>
                <a:ea typeface="Calibri"/>
              </a:rPr>
              <a:t>Dataset Aggregation</a:t>
            </a:r>
            <a:br>
              <a:rPr sz="2400"/>
            </a:br>
            <a:r>
              <a:rPr b="0" i="1" lang="en-US" sz="1300" spc="-1" strike="noStrike">
                <a:solidFill>
                  <a:schemeClr val="lt1"/>
                </a:solidFill>
                <a:latin typeface="Calibri"/>
                <a:ea typeface="Calibri"/>
              </a:rPr>
              <a:t>Iterative algorithm that addresses imitation learning's distribution shift</a:t>
            </a:r>
            <a:endParaRPr b="0" lang="pt-PT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Google Shape;272;p 3" descr=""/>
          <p:cNvPicPr/>
          <p:nvPr/>
        </p:nvPicPr>
        <p:blipFill>
          <a:blip r:embed="rId1"/>
          <a:stretch/>
        </p:blipFill>
        <p:spPr>
          <a:xfrm>
            <a:off x="8063640" y="109800"/>
            <a:ext cx="987840" cy="356760"/>
          </a:xfrm>
          <a:prstGeom prst="rect">
            <a:avLst/>
          </a:prstGeom>
          <a:ln w="0">
            <a:noFill/>
          </a:ln>
        </p:spPr>
      </p:pic>
      <p:sp>
        <p:nvSpPr>
          <p:cNvPr id="250" name="Google Shape;273;p 3"/>
          <p:cNvSpPr/>
          <p:nvPr/>
        </p:nvSpPr>
        <p:spPr>
          <a:xfrm>
            <a:off x="304920" y="304920"/>
            <a:ext cx="2999520" cy="29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51" name=""/>
          <p:cNvGraphicFramePr/>
          <p:nvPr/>
        </p:nvGraphicFramePr>
        <p:xfrm>
          <a:off x="1116360" y="1342440"/>
          <a:ext cx="3344040" cy="2981160"/>
        </p:xfrm>
        <a:graphic>
          <a:graphicData uri="http://schemas.openxmlformats.org/drawingml/2006/table">
            <a:tbl>
              <a:tblPr/>
              <a:tblGrid>
                <a:gridCol w="33444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✓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Advantages</a:t>
                      </a:r>
                      <a:endParaRPr b="0" lang="pt-PT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Directly solves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the distribution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shift problem of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IL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Collects data in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states the agent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actually visits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Iterative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improvement —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gets better with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each round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More data-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efficient than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pure IL over time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Combines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strengths of IL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with online data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collection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2" name=""/>
          <p:cNvGraphicFramePr/>
          <p:nvPr/>
        </p:nvGraphicFramePr>
        <p:xfrm>
          <a:off x="5197680" y="1330920"/>
          <a:ext cx="3344040" cy="3159720"/>
        </p:xfrm>
        <a:graphic>
          <a:graphicData uri="http://schemas.openxmlformats.org/drawingml/2006/table">
            <a:tbl>
              <a:tblPr/>
              <a:tblGrid>
                <a:gridCol w="3344400"/>
              </a:tblGrid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✗ </a:t>
                      </a: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Disadvantages</a:t>
                      </a:r>
                      <a:endParaRPr b="0" lang="pt-PT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10d0c"/>
                    </a:solidFill>
                  </a:tcPr>
                </a:tc>
              </a:tr>
              <a:tr h="364680">
                <a:tc>
                  <a:txBody>
                    <a:bodyPr lIns="36000" rIns="36000" tIns="36000" bIns="36000" anchor="t">
                      <a:noAutofit/>
                    </a:bodyPr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Requires ongoing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human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supervision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during training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Expensive —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human experts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must label new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states repeatedly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Not safe to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deploy in the real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world during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training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Convergence can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still be slow and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unpredictable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216000" indent="-216000" defTabSz="914400">
                        <a:buClr>
                          <a:srgbClr val="ffffff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Complexity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increases with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each aggregation </a:t>
                      </a:r>
                      <a:r>
                        <a:rPr b="0" lang="en-US" sz="13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round</a:t>
                      </a:r>
                      <a:endParaRPr b="0" lang="pt-PT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052640" y="51912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Side-by-Side Comparsion</a:t>
            </a:r>
            <a:endParaRPr b="0" lang="pt-PT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Google Shape;322;p28" descr=""/>
          <p:cNvPicPr/>
          <p:nvPr/>
        </p:nvPicPr>
        <p:blipFill>
          <a:blip r:embed="rId1"/>
          <a:stretch/>
        </p:blipFill>
        <p:spPr>
          <a:xfrm>
            <a:off x="8063640" y="109800"/>
            <a:ext cx="987840" cy="356760"/>
          </a:xfrm>
          <a:prstGeom prst="rect">
            <a:avLst/>
          </a:prstGeom>
          <a:ln w="0">
            <a:noFill/>
          </a:ln>
        </p:spPr>
      </p:pic>
      <p:sp>
        <p:nvSpPr>
          <p:cNvPr id="255" name="Google Shape;323;p28"/>
          <p:cNvSpPr/>
          <p:nvPr/>
        </p:nvSpPr>
        <p:spPr>
          <a:xfrm>
            <a:off x="1169640" y="1063080"/>
            <a:ext cx="582912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Google Shape;324;p28"/>
          <p:cNvSpPr/>
          <p:nvPr/>
        </p:nvSpPr>
        <p:spPr>
          <a:xfrm>
            <a:off x="507600" y="4258080"/>
            <a:ext cx="826452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PT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57" name=""/>
          <p:cNvGraphicFramePr/>
          <p:nvPr/>
        </p:nvGraphicFramePr>
        <p:xfrm>
          <a:off x="1173600" y="1309320"/>
          <a:ext cx="7539120" cy="3210120"/>
        </p:xfrm>
        <a:graphic>
          <a:graphicData uri="http://schemas.openxmlformats.org/drawingml/2006/table">
            <a:tbl>
              <a:tblPr/>
              <a:tblGrid>
                <a:gridCol w="1954440"/>
                <a:gridCol w="1554480"/>
                <a:gridCol w="1809000"/>
                <a:gridCol w="2221560"/>
              </a:tblGrid>
              <a:tr h="639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Criteria</a:t>
                      </a:r>
                      <a:endParaRPr b="0" lang="pt-PT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Imitation </a:t>
                      </a:r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Learning</a:t>
                      </a:r>
                      <a:endParaRPr b="0" lang="pt-PT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Reinforcement</a:t>
                      </a:r>
                      <a:endParaRPr b="0" lang="pt-PT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Learning</a:t>
                      </a:r>
                      <a:endParaRPr b="0" lang="pt-PT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  <a:endParaRPr b="0" lang="pt-PT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r>
                        <a:rPr b="0" lang="pt-PT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Aggregation</a:t>
                      </a:r>
                      <a:endParaRPr b="0" lang="pt-PT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399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Needs reward fn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No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99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Data </a:t>
                      </a:r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Source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Human Demos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Self-exploration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Human + agent data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Distribution Shift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Severe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N/A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Largely Resolved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99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Performance Ceiling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Human-Level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Beyond Human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Near human-level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92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Training Cost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Very High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742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Safety during Training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High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pt-PT" sz="1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Medium</a:t>
                      </a:r>
                      <a:endParaRPr b="0" lang="pt-PT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pt-PT</dc:language>
  <cp:lastModifiedBy/>
  <dcterms:modified xsi:type="dcterms:W3CDTF">2026-03-02T14:31:25Z</dcterms:modified>
  <cp:revision>1</cp:revision>
  <dc:subject/>
  <dc:title/>
</cp:coreProperties>
</file>